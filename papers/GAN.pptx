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4932" r:id="rId2"/>
    <p:sldId id="4930" r:id="rId3"/>
    <p:sldId id="4934" r:id="rId4"/>
    <p:sldId id="4968" r:id="rId5"/>
    <p:sldId id="4969" r:id="rId6"/>
    <p:sldId id="4983" r:id="rId7"/>
    <p:sldId id="4938" r:id="rId8"/>
    <p:sldId id="4982" r:id="rId9"/>
    <p:sldId id="4981" r:id="rId10"/>
    <p:sldId id="4988" r:id="rId11"/>
    <p:sldId id="4990" r:id="rId12"/>
    <p:sldId id="4941" r:id="rId13"/>
    <p:sldId id="4984" r:id="rId14"/>
    <p:sldId id="4986" r:id="rId15"/>
    <p:sldId id="4992" r:id="rId16"/>
    <p:sldId id="4991" r:id="rId17"/>
    <p:sldId id="4995" r:id="rId18"/>
    <p:sldId id="4998" r:id="rId19"/>
    <p:sldId id="4997" r:id="rId20"/>
    <p:sldId id="4999" r:id="rId21"/>
    <p:sldId id="5000" r:id="rId22"/>
    <p:sldId id="4952" r:id="rId23"/>
    <p:sldId id="4996" r:id="rId24"/>
    <p:sldId id="5001" r:id="rId25"/>
    <p:sldId id="5002" r:id="rId26"/>
    <p:sldId id="4958" r:id="rId27"/>
    <p:sldId id="5003" r:id="rId28"/>
    <p:sldId id="496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924" autoAdjust="0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C44A7-F28A-4E91-A421-1D4F0580F9B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1164E-24BA-44C2-882F-E065913F3D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36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76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640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305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56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00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678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2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32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08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540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497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486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47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445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565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5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82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4664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1EA1F-794F-40D5-B0B1-566A8242FEF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1638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433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26244-2BAD-411F-83A4-FCAD12B8C23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BEA16-13D6-4E13-A4C0-EAD7C16099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270860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39" y="1033564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汇报人：陈亚雄</a:t>
            </a:r>
            <a:endParaRPr lang="zh-CN" altLang="en-US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/>
          <p:cNvSpPr txBox="1"/>
          <p:nvPr/>
        </p:nvSpPr>
        <p:spPr bwMode="auto">
          <a:xfrm>
            <a:off x="1277565" y="2510498"/>
            <a:ext cx="9629775" cy="10156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  <a:defRPr/>
            </a:pPr>
            <a:r>
              <a:rPr lang="zh-CN" altLang="en-US" sz="6000" b="1" spc="3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sz="6000" b="1" spc="3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GAN</a:t>
            </a:r>
            <a:r>
              <a:rPr lang="zh-CN" altLang="en-US" sz="6000" b="1" spc="3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的图像生成模型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826226" y="1277114"/>
            <a:ext cx="4536000" cy="900000"/>
            <a:chOff x="6005" y="2088"/>
            <a:chExt cx="7568" cy="160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" y="2155"/>
              <a:ext cx="1541" cy="154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71" t="62292" r="8466" b="9577"/>
            <a:stretch>
              <a:fillRect/>
            </a:stretch>
          </p:blipFill>
          <p:spPr>
            <a:xfrm>
              <a:off x="7861" y="2088"/>
              <a:ext cx="5713" cy="1608"/>
            </a:xfrm>
            <a:prstGeom prst="rect">
              <a:avLst/>
            </a:prstGeom>
          </p:spPr>
        </p:pic>
      </p:grpSp>
      <p:sp>
        <p:nvSpPr>
          <p:cNvPr id="7" name="矩形: 圆角 6"/>
          <p:cNvSpPr/>
          <p:nvPr/>
        </p:nvSpPr>
        <p:spPr>
          <a:xfrm>
            <a:off x="4383664" y="3999221"/>
            <a:ext cx="3373393" cy="602176"/>
          </a:xfrm>
          <a:prstGeom prst="roundRect">
            <a:avLst/>
          </a:prstGeom>
          <a:solidFill>
            <a:srgbClr val="0A7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汇报人：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87319" y="5090752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时间：</a:t>
            </a:r>
            <a:r>
              <a:rPr lang="en-US" altLang="zh-CN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</a:t>
            </a:r>
            <a:r>
              <a:rPr lang="zh-CN" altLang="en-US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6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22</a:t>
            </a:r>
            <a:endParaRPr lang="zh-CN" altLang="en-US" sz="1600" b="1" dirty="0">
              <a:solidFill>
                <a:schemeClr val="l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D1CAB8A-0E7C-2937-28C2-275EACB32FF4}"/>
              </a:ext>
            </a:extLst>
          </p:cNvPr>
          <p:cNvSpPr/>
          <p:nvPr/>
        </p:nvSpPr>
        <p:spPr>
          <a:xfrm>
            <a:off x="4383663" y="4827130"/>
            <a:ext cx="3373393" cy="602176"/>
          </a:xfrm>
          <a:prstGeom prst="roundRect">
            <a:avLst/>
          </a:prstGeom>
          <a:solidFill>
            <a:srgbClr val="0A7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汇报时间：</a:t>
            </a:r>
            <a:r>
              <a:rPr lang="en-US" altLang="zh-CN" sz="2000" b="1" dirty="0"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2025.06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目录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3F42B59-D984-59F0-E0F5-C4A9A8A0ED2B}"/>
              </a:ext>
            </a:extLst>
          </p:cNvPr>
          <p:cNvGrpSpPr/>
          <p:nvPr/>
        </p:nvGrpSpPr>
        <p:grpSpPr>
          <a:xfrm>
            <a:off x="3024505" y="3484245"/>
            <a:ext cx="5521325" cy="781050"/>
            <a:chOff x="5938" y="5658"/>
            <a:chExt cx="8695" cy="1230"/>
          </a:xfrm>
        </p:grpSpPr>
        <p:sp>
          <p:nvSpPr>
            <p:cNvPr id="26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3F0DEDE4-3DA6-0A9E-ADA8-4A829C13C20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38" y="5658"/>
              <a:ext cx="1342" cy="1230"/>
            </a:xfrm>
            <a:prstGeom prst="oct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03</a:t>
              </a:r>
            </a:p>
          </p:txBody>
        </p:sp>
        <p:sp>
          <p:nvSpPr>
            <p:cNvPr id="27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9AEA960F-1356-C234-56CA-C1DE5023A1C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7475" y="5805"/>
              <a:ext cx="7158" cy="8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pPr algn="ctr"/>
              <a:r>
                <a:rPr lang="zh-CN" altLang="en-US" sz="3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核心算法与开发过程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1876CD7-5227-D314-2BC8-7561B45C2012}"/>
              </a:ext>
            </a:extLst>
          </p:cNvPr>
          <p:cNvGrpSpPr/>
          <p:nvPr/>
        </p:nvGrpSpPr>
        <p:grpSpPr>
          <a:xfrm>
            <a:off x="3021330" y="1184275"/>
            <a:ext cx="5521325" cy="781050"/>
            <a:chOff x="5938" y="2047"/>
            <a:chExt cx="8695" cy="1230"/>
          </a:xfrm>
        </p:grpSpPr>
        <p:sp>
          <p:nvSpPr>
            <p:cNvPr id="29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B09B78D1-D10B-2A0E-7263-8C446C80AB0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38" y="2047"/>
              <a:ext cx="1342" cy="1230"/>
            </a:xfrm>
            <a:prstGeom prst="oct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01</a:t>
              </a:r>
            </a:p>
          </p:txBody>
        </p:sp>
        <p:sp>
          <p:nvSpPr>
            <p:cNvPr id="30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4DB26D72-53F9-A9D4-0B24-5362793C84A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475" y="2222"/>
              <a:ext cx="7158" cy="8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选题背景与研究意义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817AF63-4713-7D40-C2A0-43229748526E}"/>
              </a:ext>
            </a:extLst>
          </p:cNvPr>
          <p:cNvGrpSpPr/>
          <p:nvPr/>
        </p:nvGrpSpPr>
        <p:grpSpPr>
          <a:xfrm>
            <a:off x="3021330" y="2303145"/>
            <a:ext cx="5521325" cy="781050"/>
            <a:chOff x="5938" y="3866"/>
            <a:chExt cx="8695" cy="1230"/>
          </a:xfrm>
        </p:grpSpPr>
        <p:sp>
          <p:nvSpPr>
            <p:cNvPr id="32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4457F71E-641B-2E89-95AF-DFAA5B568E3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38" y="3866"/>
              <a:ext cx="1342" cy="1230"/>
            </a:xfrm>
            <a:prstGeom prst="oct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02</a:t>
              </a:r>
            </a:p>
          </p:txBody>
        </p:sp>
        <p:sp>
          <p:nvSpPr>
            <p:cNvPr id="33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D721FD78-27C3-F3E8-E4F9-7DCD55D01E7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7475" y="4076"/>
              <a:ext cx="7158" cy="8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pPr algn="ctr"/>
              <a:r>
                <a:rPr lang="zh-CN" altLang="en-US" sz="3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系统功能与描述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B8E4F19-1277-B06F-1577-F0D3A6282F82}"/>
              </a:ext>
            </a:extLst>
          </p:cNvPr>
          <p:cNvGrpSpPr/>
          <p:nvPr/>
        </p:nvGrpSpPr>
        <p:grpSpPr>
          <a:xfrm>
            <a:off x="3021330" y="4585970"/>
            <a:ext cx="5521325" cy="781050"/>
            <a:chOff x="5938" y="3866"/>
            <a:chExt cx="8695" cy="1230"/>
          </a:xfrm>
        </p:grpSpPr>
        <p:sp>
          <p:nvSpPr>
            <p:cNvPr id="35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B45851E6-CE72-957E-84C4-C6F3A924740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38" y="3866"/>
              <a:ext cx="1342" cy="1230"/>
            </a:xfrm>
            <a:prstGeom prst="oct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04</a:t>
              </a:r>
            </a:p>
          </p:txBody>
        </p:sp>
        <p:sp>
          <p:nvSpPr>
            <p:cNvPr id="36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1AE51021-78AF-032D-838A-A1C8998E9107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475" y="4076"/>
              <a:ext cx="7158" cy="8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pPr algn="ctr"/>
              <a:r>
                <a:rPr lang="zh-CN" altLang="en-US" sz="3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实验结果与分析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04CDA86-2D89-70CA-051A-48CDF94007C1}"/>
              </a:ext>
            </a:extLst>
          </p:cNvPr>
          <p:cNvGrpSpPr/>
          <p:nvPr/>
        </p:nvGrpSpPr>
        <p:grpSpPr>
          <a:xfrm>
            <a:off x="3024505" y="5767705"/>
            <a:ext cx="5521325" cy="781050"/>
            <a:chOff x="5938" y="5658"/>
            <a:chExt cx="8695" cy="1230"/>
          </a:xfrm>
        </p:grpSpPr>
        <p:sp>
          <p:nvSpPr>
            <p:cNvPr id="38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1BDF4725-10E8-746B-50A5-52496241167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938" y="5658"/>
              <a:ext cx="1342" cy="1230"/>
            </a:xfrm>
            <a:prstGeom prst="oct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05</a:t>
              </a:r>
            </a:p>
          </p:txBody>
        </p:sp>
        <p:sp>
          <p:nvSpPr>
            <p:cNvPr id="39" name="深度视觉·原创设计 https://www.docer.com/works?userid=22383862">
              <a:extLst>
                <a:ext uri="{FF2B5EF4-FFF2-40B4-BE49-F238E27FC236}">
                  <a16:creationId xmlns:a16="http://schemas.microsoft.com/office/drawing/2014/main" id="{F776C982-5D2F-ADE5-80AB-BF68AEB2547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7475" y="5805"/>
              <a:ext cx="7158" cy="8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pPr algn="ctr"/>
              <a:r>
                <a:rPr lang="zh-CN" altLang="en-US" sz="3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汉仪正圆-55W" panose="00020600040101010101" pitchFamily="18" charset="-122"/>
                </a:rPr>
                <a:t>总结与展望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-1773" y="-43773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40" y="1055448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54651" y="1661160"/>
            <a:ext cx="1283335" cy="1283335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1958" y="1667828"/>
            <a:ext cx="1188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279340" y="3406141"/>
            <a:ext cx="96297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6000" b="1" noProof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选题背景与研究意义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深度生成模型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C5AB1F-B517-14DD-B724-61FF67FCA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01" y="1234651"/>
            <a:ext cx="9707589" cy="2951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近年来，深度学习技术的迅猛发展推动了人工智能在多个领域的突破，尤其在图像识别、目标检测、语义分割等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判别性任务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中取得了显著成果。然而，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生成性任务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，如图像合成、超分辨率重建、图像修复和艺术风格迁移，正逐渐成为学术界和工业界的研究热点。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深度生成模型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通过学习训练数据的概率分布，能够从随机噪声或隐变量中生成逼真的图像样本，成为解决生成性任务的核心工具。从理论角度看，深度生成模型的研究有助于深入理解数据分布的建模方式，推动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概率模型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神经网络架构设计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的进步。从实际应用角度看，生成高质量、逼真的图像不仅能提升用户体验，还能为数据驱动的决策提供支持。</a:t>
            </a:r>
            <a:endParaRPr kumimoji="0" lang="zh-C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2E4B765-D952-6AD8-6BC3-8818676D1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3791" y="4339543"/>
            <a:ext cx="6539008" cy="216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生成对抗网络（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GAN)</a:t>
            </a:r>
            <a:endParaRPr lang="zh-CN" altLang="en-US" b="1" dirty="0">
              <a:solidFill>
                <a:srgbClr val="00469A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00D8A62-CC31-D5A6-6E24-7D7D7E8FD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978" y="1286995"/>
            <a:ext cx="9599939" cy="170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生成对抗网络（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）是深度生成模型的里程碑式创新，由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Ian Goodfellow 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等人在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2014 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年提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出。其核心思想是通过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生成器（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Generator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判别器（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Discriminator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之间的博弈训练，使生成器能够生成与真实数据分布高度相似的图像。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的提出极大地推动了图像生成领域的发展，因其训练效率高、生成效果逼真，迅速成为图像合成任务的主流方法。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460ED2C-D170-F02F-39DB-CE58BDF56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617" y="3245128"/>
            <a:ext cx="9048099" cy="309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00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扩散模型（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Diffusion Models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F2CAC1-C907-8E69-4D03-B46BDBC19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245051"/>
            <a:ext cx="10581551" cy="170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此外，近年来基于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概率建模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的扩散模型（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Diffusion Models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）迅速崭露头角。通过模拟数据的逐步加噪和去噪过程，显式地建模数据分布。其代表性工作，如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DDPM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Denoising Diffusion Probabilistic Models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），在图像生成质量上显著超越了传统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，尤其在保留图像细节、生成高保真样本方面表现出色。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B07B79-0AB7-F5F9-316E-A1186AA30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711" y="3012092"/>
            <a:ext cx="6821892" cy="33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6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-1773" y="-43773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40" y="1055448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54651" y="1661160"/>
            <a:ext cx="1283335" cy="1283335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1958" y="1667828"/>
            <a:ext cx="1188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18716" y="3428084"/>
            <a:ext cx="963154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6000" b="1" noProof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系统功能与描述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研究问题与项目结构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2B4820-232B-EC95-90B0-7763A48B470F}"/>
              </a:ext>
            </a:extLst>
          </p:cNvPr>
          <p:cNvSpPr txBox="1"/>
          <p:nvPr/>
        </p:nvSpPr>
        <p:spPr>
          <a:xfrm>
            <a:off x="412917" y="1327687"/>
            <a:ext cx="10808638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为探讨轻量级模型的应用价值、理解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的内在局限性、融合技术优势的创新可能，本次大作业设计了以下三阶段实验：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r>
              <a:rPr lang="en-US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模型验证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：基于简单的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CNN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架构构建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网络，在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MNIST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数据集（手写数字图像）上进行训练和测试，验证其在低复杂度任务上的图像生成能力，并分析模型的收敛性和生成样本的多样性。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复杂数据集上的扩展实验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：将上述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模型直接应用于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数据集（彩色人脸图像），观察其生成质量，发现传统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在处理高分辨率、复杂结构图像时的局限性，如模糊细节、结构失真等，并分析原因。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改进模型设计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：借鉴扩散模型的逐步去噪思想，复现融合时间步编码（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Time-Step Encoding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 残差连接（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Residual Connections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）的新型生成模型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——DDGAN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Diffusion-Driven 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）。该模型通过引入时间步信息增强生成器的表达能力，并利用残差连接改善梯度传播，从而提升生成图像的细节恢复能力和训练稳定性。</a:t>
            </a:r>
          </a:p>
        </p:txBody>
      </p:sp>
    </p:spTree>
    <p:extLst>
      <p:ext uri="{BB962C8B-B14F-4D97-AF65-F5344CB8AC3E}">
        <p14:creationId xmlns:p14="http://schemas.microsoft.com/office/powerpoint/2010/main" val="365576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模块一：基础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CNN-GAN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生成模块（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MNIST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0F33B9-B3D5-0D9F-E9E1-070E2D450B4E}"/>
              </a:ext>
            </a:extLst>
          </p:cNvPr>
          <p:cNvSpPr txBox="1"/>
          <p:nvPr/>
        </p:nvSpPr>
        <p:spPr>
          <a:xfrm>
            <a:off x="371597" y="1365539"/>
            <a:ext cx="4703279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该模块旨在实现一个基础的生成对抗网络，用于生成手写数字图像。输入为随机噪声向量，维度为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，符合正态分布。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生成器网络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通过上采样将此噪声映射成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28×28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的灰度图像，由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全连接层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转置卷积层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组合而成，能够逐步放大并生成图像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判别器网络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则对真实图像与生成图像进行真假判别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使用卷积层提取图像特征，最后通过全连接层输出真假概率。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124BF9A-C6A1-56E4-9B0C-0B89906CDD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993" y="1365539"/>
            <a:ext cx="6210007" cy="25375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50445AF-CDD2-726F-103B-78E809C10B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"/>
          <a:stretch/>
        </p:blipFill>
        <p:spPr>
          <a:xfrm>
            <a:off x="6026447" y="4168323"/>
            <a:ext cx="5981237" cy="21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8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模块二：增强版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CNN-GAN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生成模块（</a:t>
            </a:r>
            <a:r>
              <a:rPr lang="en-US" altLang="zh-CN" b="1" dirty="0" err="1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CelebA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0F33B9-B3D5-0D9F-E9E1-070E2D450B4E}"/>
              </a:ext>
            </a:extLst>
          </p:cNvPr>
          <p:cNvSpPr txBox="1"/>
          <p:nvPr/>
        </p:nvSpPr>
        <p:spPr>
          <a:xfrm>
            <a:off x="412917" y="1147660"/>
            <a:ext cx="5049047" cy="627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为适应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64×64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彩色人脸图像的复杂性，第二模块对基础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进行了网络结构的增强。生成器和判别器均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增加了网络层数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，采用更多卷积和转置卷积层，以提升模型表达能力。</a:t>
            </a:r>
            <a:r>
              <a:rPr lang="zh-CN" altLang="en-US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输入依然是维度为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的随机噪声向量，输出变更为三通道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64×64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彩色图像。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0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然而，尽管网络加深，训练过程中仍出现了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图像模糊、细节缺失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问题。此外，彩色高分辨率图像的生成本身具有较大难度，导致生成效果不理想。实验结果显示该模块在生成真实感图像方面存在一定局限，体现出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单纯加深网络结构不足以解决复杂数据集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的生成问题。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E9BEA1-7193-13B2-03DD-F49989D34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620" y="1727704"/>
            <a:ext cx="6313736" cy="38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8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模块三：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Diffusion-GAN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模块（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5C4DC5-E4A4-671D-7D77-F945757B62DF}"/>
              </a:ext>
            </a:extLst>
          </p:cNvPr>
          <p:cNvSpPr txBox="1"/>
          <p:nvPr/>
        </p:nvSpPr>
        <p:spPr>
          <a:xfrm>
            <a:off x="268786" y="1033257"/>
            <a:ext cx="11222591" cy="322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针对增强版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在彩色人脸生成中表现不佳的问题，本项目设计并实现了融合扩散机制的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Diffusion-GAN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模块，简称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。该模块引入了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时间步嵌入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残差连接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两项关键设计。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</a:pPr>
            <a:endParaRPr lang="en-US" altLang="zh-CN" sz="12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时间步嵌入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将生成过程分解为多个去噪步骤，每一步通过时间步变量传递额外信息，使生成器能够模拟扩散模型中噪声的逐步去除过程。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残差连接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的加入则有效缓解了深层网络训练的梯度消失问题，促进了模型的收敛和稳定。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我们将在</a:t>
            </a:r>
            <a:r>
              <a:rPr lang="zh-CN" altLang="en-US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部分详细考虑这两种改进方式及其代码实现。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实验结果表明，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数据集上的生成效果明显优于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，生成图像在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细节丰富度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色彩自然度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上均有显著提升，同时训练过程更为稳定。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AE9928-B8B0-F5FD-FB27-952FC1A41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86" y="4261961"/>
            <a:ext cx="2315845" cy="231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1C7FCD-83D8-5EA2-ACC5-62CB07A17C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231" y="4273459"/>
            <a:ext cx="2315845" cy="2315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8166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-1773" y="-43773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40" y="1055448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54651" y="1661160"/>
            <a:ext cx="1283335" cy="1283335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1958" y="1667828"/>
            <a:ext cx="1188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1B87DF-307A-0923-F71B-3E121AA6A3ED}"/>
              </a:ext>
            </a:extLst>
          </p:cNvPr>
          <p:cNvSpPr txBox="1"/>
          <p:nvPr/>
        </p:nvSpPr>
        <p:spPr>
          <a:xfrm>
            <a:off x="1277567" y="3428996"/>
            <a:ext cx="963154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6000" b="1" noProof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核心算法与开发过程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的对抗机制和损失函数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B14C78B-29B7-B1B4-6B55-8AA124A14A8F}"/>
                  </a:ext>
                </a:extLst>
              </p:cNvPr>
              <p:cNvSpPr txBox="1"/>
              <p:nvPr/>
            </p:nvSpPr>
            <p:spPr>
              <a:xfrm>
                <a:off x="556054" y="1168789"/>
                <a:ext cx="10300316" cy="1521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lnSpc>
                    <a:spcPct val="150000"/>
                  </a:lnSpc>
                </a:pP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在数学表达上，</a:t>
                </a: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GAN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的损失函数是一个最小</a:t>
                </a: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--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最大化问题，定义为：</a:t>
                </a:r>
              </a:p>
              <a:p>
                <a:pPr indent="3048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func>
                        </m:e>
                      </m:func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𝑑𝑎𝑡𝑎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func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2"/>
                                    </a:rPr>
                                    <m:t>−</m:t>
                                  </m:r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304800" algn="just">
                  <a:lnSpc>
                    <a:spcPct val="150000"/>
                  </a:lnSpc>
                </a:pP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B14C78B-29B7-B1B4-6B55-8AA124A14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54" y="1168789"/>
                <a:ext cx="10300316" cy="15218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001902-C249-9075-41DA-39726A27F467}"/>
                  </a:ext>
                </a:extLst>
              </p:cNvPr>
              <p:cNvSpPr txBox="1"/>
              <p:nvPr/>
            </p:nvSpPr>
            <p:spPr>
              <a:xfrm>
                <a:off x="268786" y="2690680"/>
                <a:ext cx="11509116" cy="2622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lnSpc>
                    <a:spcPct val="200000"/>
                  </a:lnSpc>
                </a:pP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判别器的优化目标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来看，表达式第一项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𝑑𝑎𝑡𝑎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</m:func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中，真实图像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从数据分布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采样，判别器对真实图像的输出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应接近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func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越大则判别器对真实图像的判别能力越强；第二项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中，噪声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从先验分布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采样，生成器将其映射为假图像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，判别器对假图像的输出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应接近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，此时该项越大，判别器对假图像的判别能力越强，即判别器目标是最大化整体损失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001902-C249-9075-41DA-39726A2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86" y="2690680"/>
                <a:ext cx="11509116" cy="2622898"/>
              </a:xfrm>
              <a:prstGeom prst="rect">
                <a:avLst/>
              </a:prstGeom>
              <a:blipFill>
                <a:blip r:embed="rId7"/>
                <a:stretch>
                  <a:fillRect l="-424" r="-477" b="-2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32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GAN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的对抗机制和损失函数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B14C78B-29B7-B1B4-6B55-8AA124A14A8F}"/>
                  </a:ext>
                </a:extLst>
              </p:cNvPr>
              <p:cNvSpPr txBox="1"/>
              <p:nvPr/>
            </p:nvSpPr>
            <p:spPr>
              <a:xfrm>
                <a:off x="556054" y="1168789"/>
                <a:ext cx="10300316" cy="1521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lnSpc>
                    <a:spcPct val="150000"/>
                  </a:lnSpc>
                </a:pP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在数学表达上，</a:t>
                </a: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GAN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的损失函数是一个最小</a:t>
                </a: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--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最大化问题，定义为：</a:t>
                </a:r>
              </a:p>
              <a:p>
                <a:pPr indent="3048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func>
                        </m:e>
                      </m:func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𝑑𝑎𝑡𝑎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func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微软雅黑" panose="020B0503020204020204" pitchFamily="34" charset="-122"/>
                                    </a:rPr>
                                    <m:t>−</m:t>
                                  </m:r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304800" algn="just">
                  <a:lnSpc>
                    <a:spcPct val="150000"/>
                  </a:lnSpc>
                </a:pP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B14C78B-29B7-B1B4-6B55-8AA124A14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54" y="1168789"/>
                <a:ext cx="10300316" cy="15218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001902-C249-9075-41DA-39726A27F467}"/>
                  </a:ext>
                </a:extLst>
              </p:cNvPr>
              <p:cNvSpPr txBox="1"/>
              <p:nvPr/>
            </p:nvSpPr>
            <p:spPr>
              <a:xfrm>
                <a:off x="371597" y="2488162"/>
                <a:ext cx="11509116" cy="3777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6070" algn="just">
                  <a:lnSpc>
                    <a:spcPct val="150000"/>
                  </a:lnSpc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生成器的优化目标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在于最小化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，也就是最小化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。当生成图像足够逼真，判别器对假图像的输出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趋近于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趋近于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趋近于负无穷，生成器通过最小化损失让判别器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误判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假图像为真。</a:t>
                </a:r>
                <a:endParaRPr lang="en-US" altLang="zh-CN" sz="1800" kern="100" dirty="0">
                  <a:effectLst/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306070" algn="just">
                  <a:lnSpc>
                    <a:spcPct val="200000"/>
                  </a:lnSpc>
                </a:pP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概率意义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对抗逻辑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分析，判别器可看作二分类器，损失函数本质是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二分类交叉熵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损失，优化目标等价于最小化分类损失；生成器则通过欺骗判别器，使假图像的分类损失最大化。理论上，当</a:t>
                </a:r>
                <a:r>
                  <a:rPr lang="en-US" altLang="zh-CN" sz="1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GAN</a:t>
                </a:r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达到平衡，生成器生成图像分布与真实数据分布一致，判别器无法区分真假图像，此时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r>
                  <a:rPr lang="zh-CN" altLang="zh-CN" sz="1800" kern="100" dirty="0">
                    <a:effectLst/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，整体损失为固定值。</a:t>
                </a:r>
              </a:p>
              <a:p>
                <a:pPr indent="306070" algn="just">
                  <a:lnSpc>
                    <a:spcPct val="150000"/>
                  </a:lnSpc>
                </a:pPr>
                <a:endParaRPr lang="zh-CN" altLang="zh-CN" sz="1800" kern="100" dirty="0">
                  <a:effectLst/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B001902-C249-9075-41DA-39726A2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97" y="2488162"/>
                <a:ext cx="11509116" cy="3777637"/>
              </a:xfrm>
              <a:prstGeom prst="rect">
                <a:avLst/>
              </a:prstGeom>
              <a:blipFill>
                <a:blip r:embed="rId7"/>
                <a:stretch>
                  <a:fillRect l="-477" r="-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830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基于噪声的图像特征学习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4C0CB9-5512-0F2D-7BEC-242DCF6548F5}"/>
              </a:ext>
            </a:extLst>
          </p:cNvPr>
          <p:cNvSpPr txBox="1"/>
          <p:nvPr/>
        </p:nvSpPr>
        <p:spPr>
          <a:xfrm>
            <a:off x="185773" y="1403740"/>
            <a:ext cx="4238174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在基础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CNN-GAN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中，生成器从一个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维度为</a:t>
            </a:r>
            <a:r>
              <a:rPr lang="en-US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的随机噪声向量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学习映射关系，将其转换为对应的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图像。这个过程可以看作是从一个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低维潜空间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高维图像空间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的非线性变换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借助</a:t>
            </a:r>
            <a:r>
              <a:rPr lang="zh-CN" altLang="en-US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转置卷积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通过训练学会在潜空间中捕捉数据分布的潜在结构，实现图像的合成。对于相对简单的手写数字数据集（如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MNIST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），该方法效果良好且收敛较快。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FC07CE-B1E0-EE49-3EA3-DB644AB36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669" y="1099278"/>
            <a:ext cx="5712953" cy="250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B0BC494-D960-F7B8-1DCD-804A4C2D6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2181500"/>
                  </p:ext>
                </p:extLst>
              </p:nvPr>
            </p:nvGraphicFramePr>
            <p:xfrm>
              <a:off x="5138617" y="3899480"/>
              <a:ext cx="7053383" cy="2233836"/>
            </p:xfrm>
            <a:graphic>
              <a:graphicData uri="http://schemas.openxmlformats.org/drawingml/2006/table">
                <a:tbl>
                  <a:tblPr/>
                  <a:tblGrid>
                    <a:gridCol w="948568">
                      <a:extLst>
                        <a:ext uri="{9D8B030D-6E8A-4147-A177-3AD203B41FA5}">
                          <a16:colId xmlns:a16="http://schemas.microsoft.com/office/drawing/2014/main" val="4146984744"/>
                        </a:ext>
                      </a:extLst>
                    </a:gridCol>
                    <a:gridCol w="5034491">
                      <a:extLst>
                        <a:ext uri="{9D8B030D-6E8A-4147-A177-3AD203B41FA5}">
                          <a16:colId xmlns:a16="http://schemas.microsoft.com/office/drawing/2014/main" val="2290922894"/>
                        </a:ext>
                      </a:extLst>
                    </a:gridCol>
                    <a:gridCol w="1070324">
                      <a:extLst>
                        <a:ext uri="{9D8B030D-6E8A-4147-A177-3AD203B41FA5}">
                          <a16:colId xmlns:a16="http://schemas.microsoft.com/office/drawing/2014/main" val="4087790607"/>
                        </a:ext>
                      </a:extLst>
                    </a:gridCol>
                  </a:tblGrid>
                  <a:tr h="5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参数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尺寸公式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典型用途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535527"/>
                      </a:ext>
                    </a:extLst>
                  </a:tr>
                  <a:tr h="826695">
                    <a:tc>
                      <a:txBody>
                        <a:bodyPr/>
                        <a:lstStyle/>
                        <a:p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标准卷积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kern="1200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𝑂𝑢𝑡𝑝𝑢𝑡</m:t>
                                </m:r>
                                <m:r>
                                  <a:rPr lang="en-US" altLang="zh-CN" sz="1200" b="0" i="1" kern="1200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= 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altLang="zh-CN" sz="1200" b="0" i="1" kern="1200" dirty="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1200" b="0" i="1" kern="1200" dirty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1200" b="0" i="1" kern="1200" dirty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200" b="0" i="1" kern="1200" dirty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𝐼𝑛𝑝𝑢𝑡</m:t>
                                            </m:r>
                                            <m:r>
                                              <a:rPr lang="en-US" altLang="zh-CN" sz="1200" b="0" i="1" kern="1200" dirty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 + 2×</m:t>
                                            </m:r>
                                            <m:r>
                                              <a:rPr lang="en-US" altLang="zh-CN" sz="1200" b="0" i="1" kern="1200" dirty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𝑝𝑎𝑑𝑑𝑖𝑛𝑔</m:t>
                                            </m:r>
                                            <m:r>
                                              <a:rPr lang="en-US" altLang="zh-CN" sz="1200" b="0" i="1" kern="1200" dirty="0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 − </m:t>
                                            </m:r>
                                            <m:r>
                                              <a:rPr lang="en-US" altLang="zh-CN" sz="1200" b="0" i="1" kern="1200" dirty="0" err="1" smtClean="0">
                                                <a:solidFill>
                                                  <a:schemeClr val="accent1">
                                                    <a:lumMod val="75000"/>
                                                  </a:schemeClr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𝑘𝑒𝑟𝑛𝑒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200" b="0" i="1" kern="1200" dirty="0" err="1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200" b="0" i="1" kern="1200" dirty="0" err="1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200" b="0" i="1" kern="1200" dirty="0" err="1" smtClean="0">
                                                    <a:solidFill>
                                                      <a:schemeClr val="accent1">
                                                        <a:lumMod val="75000"/>
                                                      </a:schemeClr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𝑠𝑖𝑧𝑒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altLang="zh-CN" sz="1200" b="0" i="1" kern="1200" dirty="0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𝑠𝑡𝑟𝑖𝑑𝑒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1200" b="0" i="1" kern="1200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+ 1</m:t>
                                </m:r>
                              </m:oMath>
                            </m:oMathPara>
                          </a14:m>
                          <a:endParaRPr lang="en-US" sz="1200" b="0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特征提取</a:t>
                          </a:r>
                          <a:endParaRPr lang="en-US" altLang="zh-CN" sz="1200" b="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（下采样）</a:t>
                          </a:r>
                        </a:p>
                        <a:p>
                          <a:pPr algn="just"/>
                          <a:endParaRPr lang="zh-CN" altLang="zh-CN" sz="1200" kern="100" dirty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647150"/>
                      </a:ext>
                    </a:extLst>
                  </a:tr>
                  <a:tr h="826695">
                    <a:tc>
                      <a:txBody>
                        <a:bodyPr/>
                        <a:lstStyle/>
                        <a:p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转置卷积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200" b="0" i="1" kern="1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Out</m:t>
                                </m:r>
                                <m:r>
                                  <a:rPr lang="en-US" altLang="zh-CN" sz="1200" b="0" i="1" kern="1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𝑝𝑢𝑡</m:t>
                                </m:r>
                                <m:r>
                                  <a:rPr lang="en-US" altLang="zh-CN" sz="1200" i="1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zh-CN" altLang="zh-CN" sz="1200" i="1" kern="10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CN" sz="1200" b="0" i="0" kern="1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In</m:t>
                                    </m:r>
                                    <m:r>
                                      <a:rPr lang="en-US" altLang="zh-CN" sz="1200" b="0" i="1" kern="1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𝑝𝑢𝑡</m:t>
                                    </m:r>
                                    <m:r>
                                      <a:rPr lang="en-US" altLang="zh-CN" sz="1200" i="1" kern="10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zh-CN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stride</m:t>
                                </m:r>
                                <m:r>
                                  <a:rPr lang="en-US" altLang="zh-CN" sz="1200" i="1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  <m:r>
                                  <a:rPr lang="zh-CN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padding</m:t>
                                </m:r>
                                <m:r>
                                  <a:rPr lang="en-US" altLang="zh-CN" sz="1200" i="1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kernel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200" kern="10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size</m:t>
                                </m:r>
                              </m:oMath>
                            </m:oMathPara>
                          </a14:m>
                          <a:endParaRPr lang="zh-CN" altLang="zh-CN" sz="1200" kern="100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图像生成</a:t>
                          </a:r>
                          <a:endParaRPr lang="en-US" altLang="zh-CN" sz="1200" b="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（上采样）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4800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AB0BC494-D960-F7B8-1DCD-804A4C2D6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2181500"/>
                  </p:ext>
                </p:extLst>
              </p:nvPr>
            </p:nvGraphicFramePr>
            <p:xfrm>
              <a:off x="5138617" y="3899480"/>
              <a:ext cx="7053383" cy="2233836"/>
            </p:xfrm>
            <a:graphic>
              <a:graphicData uri="http://schemas.openxmlformats.org/drawingml/2006/table">
                <a:tbl>
                  <a:tblPr/>
                  <a:tblGrid>
                    <a:gridCol w="948568">
                      <a:extLst>
                        <a:ext uri="{9D8B030D-6E8A-4147-A177-3AD203B41FA5}">
                          <a16:colId xmlns:a16="http://schemas.microsoft.com/office/drawing/2014/main" val="4146984744"/>
                        </a:ext>
                      </a:extLst>
                    </a:gridCol>
                    <a:gridCol w="5034491">
                      <a:extLst>
                        <a:ext uri="{9D8B030D-6E8A-4147-A177-3AD203B41FA5}">
                          <a16:colId xmlns:a16="http://schemas.microsoft.com/office/drawing/2014/main" val="2290922894"/>
                        </a:ext>
                      </a:extLst>
                    </a:gridCol>
                    <a:gridCol w="1070324">
                      <a:extLst>
                        <a:ext uri="{9D8B030D-6E8A-4147-A177-3AD203B41FA5}">
                          <a16:colId xmlns:a16="http://schemas.microsoft.com/office/drawing/2014/main" val="4087790607"/>
                        </a:ext>
                      </a:extLst>
                    </a:gridCol>
                  </a:tblGrid>
                  <a:tr h="5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参数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尺寸公式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典型用途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535527"/>
                      </a:ext>
                    </a:extLst>
                  </a:tr>
                  <a:tr h="826695">
                    <a:tc>
                      <a:txBody>
                        <a:bodyPr/>
                        <a:lstStyle/>
                        <a:p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标准卷积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007" t="-71324" r="-21671" b="-1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特征提取</a:t>
                          </a:r>
                          <a:endParaRPr lang="en-US" altLang="zh-CN" sz="1200" b="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（下采样）</a:t>
                          </a:r>
                        </a:p>
                        <a:p>
                          <a:pPr algn="just"/>
                          <a:endParaRPr lang="zh-CN" altLang="zh-CN" sz="1200" kern="100" dirty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647150"/>
                      </a:ext>
                    </a:extLst>
                  </a:tr>
                  <a:tr h="826695">
                    <a:tc>
                      <a:txBody>
                        <a:bodyPr/>
                        <a:lstStyle/>
                        <a:p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转置卷积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007" t="-171324" r="-21671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图像生成</a:t>
                          </a:r>
                          <a:endParaRPr lang="en-US" altLang="zh-CN" sz="1200" b="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:r>
                            <a:rPr lang="zh-CN" altLang="en-US" sz="1200" b="0" dirty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a:t>（上采样）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4800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9187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 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中的时间编码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A5FC55-FE1C-F4F0-F90D-3516040267FF}"/>
                  </a:ext>
                </a:extLst>
              </p:cNvPr>
              <p:cNvSpPr txBox="1"/>
              <p:nvPr/>
            </p:nvSpPr>
            <p:spPr>
              <a:xfrm>
                <a:off x="640061" y="1037033"/>
                <a:ext cx="10790206" cy="378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时间步嵌入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会通过特定数学映射（如三角函数），将每个时间步</a:t>
                </a:r>
                <a14:m>
                  <m:oMath xmlns:m="http://schemas.openxmlformats.org/officeDocument/2006/math">
                    <m:r>
                      <a:rPr lang="en-US" altLang="zh-CN" sz="1800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转变成高维向量。实际操作时，模型先对时间步</a:t>
                </a:r>
                <a14:m>
                  <m:oMath xmlns:m="http://schemas.openxmlformats.org/officeDocument/2006/math">
                    <m:r>
                      <a:rPr lang="en-US" altLang="zh-CN" sz="1800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归一化，把数值映射到</a:t>
                </a:r>
                <a14:m>
                  <m:oMath xmlns:m="http://schemas.openxmlformats.org/officeDocument/2006/math">
                    <m:r>
                      <a:rPr lang="en-US" altLang="zh-CN" sz="1800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[0,1]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区间，再借助多层感知机（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MLP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）或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正弦余弦函数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等运算，将单一时间数值变为含丰富特征的高维向量。生成器拿到这个向量后，就能清楚知道当前去噪步骤在整个生成过程中的进度，从而为预测噪声残差提供关键线索。</a:t>
                </a:r>
                <a:endParaRPr lang="en-US" altLang="zh-CN" sz="1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zh-CN" altLang="zh-CN" sz="1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</a:t>
                </a:r>
                <a:r>
                  <a:rPr lang="zh-CN" altLang="zh-CN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模型运行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角度看，不同时间步的嵌入向量包含着不同的生成指令。在生成初期，较大时间步对应的嵌入向量会让生成器先勾勒出粗糙的</a:t>
                </a:r>
                <a:r>
                  <a:rPr lang="zh-CN" altLang="zh-CN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图像轮廓和基础特征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；随着时间步减小，嵌入向量传递的信息会促使生成器对图像细节进行优化，比如</a:t>
                </a:r>
                <a:r>
                  <a:rPr lang="zh-CN" altLang="zh-CN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补充纹理、调整色彩过渡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等。这种分阶段、按进度的生成模式，让</a:t>
                </a: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DDGAN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能根据图像生成的不同阶段需求，灵活调整生成策略，最终生成</a:t>
                </a:r>
                <a:r>
                  <a:rPr lang="zh-CN" altLang="zh-CN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高质量的彩色高分辨率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图像。</a:t>
                </a:r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A5FC55-FE1C-F4F0-F90D-35160402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61" y="1037033"/>
                <a:ext cx="10790206" cy="3782702"/>
              </a:xfrm>
              <a:prstGeom prst="rect">
                <a:avLst/>
              </a:prstGeom>
              <a:blipFill>
                <a:blip r:embed="rId6"/>
                <a:stretch>
                  <a:fillRect l="-395" r="-452" b="-1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548741AF-005D-07A4-E0E4-1725E461F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7303" y="4932910"/>
            <a:ext cx="6334823" cy="141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3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时间编码的代码实现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FDFA36-1537-737E-F945-9291A0437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65" y="3007646"/>
            <a:ext cx="5352503" cy="277264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02E5CC8-C456-EF6B-F4C2-C0F47DDB1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2BD355EE-CFE4-758B-0EDF-6CA52851AA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440971"/>
                  </p:ext>
                </p:extLst>
              </p:nvPr>
            </p:nvGraphicFramePr>
            <p:xfrm>
              <a:off x="6882146" y="1237812"/>
              <a:ext cx="5044543" cy="1524127"/>
            </p:xfrm>
            <a:graphic>
              <a:graphicData uri="http://schemas.openxmlformats.org/drawingml/2006/table">
                <a:tbl>
                  <a:tblPr/>
                  <a:tblGrid>
                    <a:gridCol w="865305">
                      <a:extLst>
                        <a:ext uri="{9D8B030D-6E8A-4147-A177-3AD203B41FA5}">
                          <a16:colId xmlns:a16="http://schemas.microsoft.com/office/drawing/2014/main" val="3654597252"/>
                        </a:ext>
                      </a:extLst>
                    </a:gridCol>
                    <a:gridCol w="1380805">
                      <a:extLst>
                        <a:ext uri="{9D8B030D-6E8A-4147-A177-3AD203B41FA5}">
                          <a16:colId xmlns:a16="http://schemas.microsoft.com/office/drawing/2014/main" val="729479898"/>
                        </a:ext>
                      </a:extLst>
                    </a:gridCol>
                    <a:gridCol w="2798433">
                      <a:extLst>
                        <a:ext uri="{9D8B030D-6E8A-4147-A177-3AD203B41FA5}">
                          <a16:colId xmlns:a16="http://schemas.microsoft.com/office/drawing/2014/main" val="130353088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对比项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原始公式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代码实现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4747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zh-CN" altLang="en-US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频率因子</a:t>
                          </a:r>
                          <a:endParaRPr lang="zh-CN" altLang="en-US" sz="1600" b="0"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10000</m:t>
                                    </m:r>
                                  </m:e>
                                  <m:sup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zh-CN" sz="16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600" b="0" i="1" kern="1200" dirty="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1600" b="0" i="1" kern="1200" dirty="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1600" b="0" i="1" kern="1200" dirty="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1600" b="0" i="1" kern="1200" dirty="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𝐷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zh-CN" altLang="zh-CN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kern="10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altLang="zh-CN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  ×</m:t>
                                        </m:r>
                                        <m:f>
                                          <m:fPr>
                                            <m:ctrlPr>
                                              <a:rPr lang="zh-CN" altLang="zh-C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func>
                                              <m:funcPr>
                                                <m:ctrlPr>
                                                  <a:rPr lang="zh-CN" altLang="zh-CN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Times New Roman" panose="020206030504050203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zh-CN" altLang="zh-CN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10000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num>
                                          <m:den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sz="16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half</m:t>
                                            </m:r>
                                            <m:r>
                                              <m:rPr>
                                                <m:lit/>
                                                <m:nor/>
                                              </m:rPr>
                                              <a:rPr lang="en-US" altLang="zh-CN" sz="16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sz="1600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dim</m:t>
                                            </m:r>
                                            <m:r>
                                              <a:rPr lang="en-US" altLang="zh-C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 − 1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zh-CN" altLang="zh-CN" sz="1600" kern="100" dirty="0">
                            <a:effectLst/>
                            <a:latin typeface="等线" panose="02010600030101010101" pitchFamily="2" charset="-122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3763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2BD355EE-CFE4-758B-0EDF-6CA52851AA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440971"/>
                  </p:ext>
                </p:extLst>
              </p:nvPr>
            </p:nvGraphicFramePr>
            <p:xfrm>
              <a:off x="6882146" y="1237812"/>
              <a:ext cx="5044543" cy="1524127"/>
            </p:xfrm>
            <a:graphic>
              <a:graphicData uri="http://schemas.openxmlformats.org/drawingml/2006/table">
                <a:tbl>
                  <a:tblPr/>
                  <a:tblGrid>
                    <a:gridCol w="865305">
                      <a:extLst>
                        <a:ext uri="{9D8B030D-6E8A-4147-A177-3AD203B41FA5}">
                          <a16:colId xmlns:a16="http://schemas.microsoft.com/office/drawing/2014/main" val="3654597252"/>
                        </a:ext>
                      </a:extLst>
                    </a:gridCol>
                    <a:gridCol w="1380805">
                      <a:extLst>
                        <a:ext uri="{9D8B030D-6E8A-4147-A177-3AD203B41FA5}">
                          <a16:colId xmlns:a16="http://schemas.microsoft.com/office/drawing/2014/main" val="729479898"/>
                        </a:ext>
                      </a:extLst>
                    </a:gridCol>
                    <a:gridCol w="2798433">
                      <a:extLst>
                        <a:ext uri="{9D8B030D-6E8A-4147-A177-3AD203B41FA5}">
                          <a16:colId xmlns:a16="http://schemas.microsoft.com/office/drawing/2014/main" val="13035308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对比项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原始公式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代码实现</a:t>
                          </a: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474733"/>
                      </a:ext>
                    </a:extLst>
                  </a:tr>
                  <a:tr h="1127887">
                    <a:tc>
                      <a:txBody>
                        <a:bodyPr/>
                        <a:lstStyle/>
                        <a:p>
                          <a:r>
                            <a:rPr lang="zh-CN" altLang="en-US" sz="16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频率因子</a:t>
                          </a:r>
                          <a:endParaRPr lang="zh-CN" altLang="en-US" sz="1600" b="0"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62555" t="-34946" r="-202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76200" marB="7620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80217" t="-34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3763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99F49008-74B8-8988-D172-9FA7BD801FB3}"/>
              </a:ext>
            </a:extLst>
          </p:cNvPr>
          <p:cNvSpPr txBox="1"/>
          <p:nvPr/>
        </p:nvSpPr>
        <p:spPr>
          <a:xfrm>
            <a:off x="92366" y="1209691"/>
            <a:ext cx="6461858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b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正弦时间嵌入函数（将时间步转换为高维向量）</a:t>
            </a:r>
            <a:endParaRPr kumimoji="0" lang="en-US" altLang="zh-CN" b="1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zh-CN" b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输入：时间步张量 t [64]（假设 batch_size=64）</a:t>
            </a:r>
            <a:endParaRPr kumimoji="0" lang="en-US" altLang="zh-CN" b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zh-CN" b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输出：时间嵌入向量 [64, 128]（默认 embedding_dim=128）</a:t>
            </a:r>
            <a:br>
              <a:rPr kumimoji="0" lang="zh-CN" altLang="zh-CN" b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br>
              <a:rPr kumimoji="0" lang="zh-CN" altLang="zh-CN" b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B5785F6A-850D-69B0-B786-8B6B6C538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40E4A5D-7879-82BD-2BCF-2CB4C770979D}"/>
                  </a:ext>
                </a:extLst>
              </p:cNvPr>
              <p:cNvSpPr txBox="1"/>
              <p:nvPr/>
            </p:nvSpPr>
            <p:spPr>
              <a:xfrm>
                <a:off x="5809240" y="2790870"/>
                <a:ext cx="5860752" cy="2206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 b="0" i="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如果不进行这种</a:t>
                </a:r>
                <a:r>
                  <a:rPr lang="zh-CN" alt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指、对数的转换</a:t>
                </a:r>
                <a:r>
                  <a:rPr lang="zh-CN" altLang="en-US" sz="1600" b="0" i="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，会面临以下问题：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数值溢出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：当 </a:t>
                </a:r>
                <a:r>
                  <a:rPr lang="en-US" altLang="zh-CN" sz="1600" b="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接近 </a:t>
                </a:r>
                <a:r>
                  <a:rPr lang="en-US" altLang="zh-CN" sz="1600" b="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/2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10000</m:t>
                        </m:r>
                      </m:e>
                      <m:sup>
                        <m:f>
                          <m:fPr>
                            <m:ctrlPr>
                              <a:rPr lang="en-US" altLang="zh-CN" sz="16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num>
                          <m:den>
                            <m:r>
                              <a:rPr lang="en-US" altLang="zh-CN" sz="1600" b="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den>
                        </m:f>
                      </m:sup>
                    </m:sSup>
                    <m:r>
                      <a:rPr lang="zh-CN" altLang="en-US" sz="16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可能超出浮点数范围。</a:t>
                </a: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除零风险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10000</m:t>
                        </m:r>
                      </m:e>
                      <m:sup>
                        <m:f>
                          <m:fPr>
                            <m:ctrlP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num>
                          <m:den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因精度问题被舍入为 </a:t>
                </a:r>
                <a:r>
                  <a:rPr lang="en-US" altLang="zh-CN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，会导致除零错误。</a:t>
                </a: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梯度不稳定</a:t>
                </a:r>
                <a:r>
                  <a:rPr lang="zh-CN" alt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：幂函数的梯度在极值处可能爆炸或消失。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40E4A5D-7879-82BD-2BCF-2CB4C770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240" y="2790870"/>
                <a:ext cx="5860752" cy="2206501"/>
              </a:xfrm>
              <a:prstGeom prst="rect">
                <a:avLst/>
              </a:prstGeom>
              <a:blipFill>
                <a:blip r:embed="rId8"/>
                <a:stretch>
                  <a:fillRect l="-624" b="-2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F112A911-599B-4562-28FE-E9EBBDF17782}"/>
              </a:ext>
            </a:extLst>
          </p:cNvPr>
          <p:cNvSpPr/>
          <p:nvPr/>
        </p:nvSpPr>
        <p:spPr>
          <a:xfrm>
            <a:off x="265311" y="2690438"/>
            <a:ext cx="11384121" cy="870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349DCC1-C407-17E3-F694-67DCF1AB8D07}"/>
                  </a:ext>
                </a:extLst>
              </p:cNvPr>
              <p:cNvSpPr txBox="1"/>
              <p:nvPr/>
            </p:nvSpPr>
            <p:spPr>
              <a:xfrm>
                <a:off x="5845009" y="4997371"/>
                <a:ext cx="6254626" cy="2001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4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 </a:t>
                </a:r>
                <a:r>
                  <a:rPr lang="en-US" altLang="zh-CN" sz="14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 </a:t>
                </a:r>
                <a:r>
                  <a:rPr lang="en-US" altLang="zh-CN" sz="14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1024</a:t>
                </a:r>
                <a:r>
                  <a:rPr lang="zh-CN" altLang="en-US" sz="14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 </a:t>
                </a:r>
                <a:r>
                  <a:rPr lang="en-US" altLang="zh-CN" sz="14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512</a:t>
                </a:r>
                <a:r>
                  <a:rPr lang="zh-CN" altLang="en-US" sz="14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为例：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4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直接计算：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10000</m:t>
                        </m:r>
                      </m:e>
                      <m:sup>
                        <m:f>
                          <m:fPr>
                            <m:ctrlPr>
                              <a:rPr lang="en-US" altLang="zh-CN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zh-CN" sz="12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CN" sz="12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en-US" altLang="zh-CN" sz="12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512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altLang="zh-CN" sz="12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1024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=10000</a:t>
                </a:r>
                <a:r>
                  <a:rPr lang="zh-CN" altLang="en-US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，是一个大数。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4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对数变换：</a:t>
                </a:r>
                <a:r>
                  <a:rPr lang="en-US" altLang="zh-CN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exp(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zh-CN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512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1024</m:t>
                        </m:r>
                      </m:den>
                    </m:f>
                  </m:oMath>
                </a14:m>
                <a:r>
                  <a:rPr lang="en-US" altLang="zh-CN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​log(10000))=exp(9.21)≈10000</a:t>
                </a:r>
                <a:r>
                  <a:rPr lang="zh-CN" altLang="en-US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，但中间值（</a:t>
                </a:r>
                <a:r>
                  <a:rPr lang="en-US" altLang="zh-CN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9.21</a:t>
                </a:r>
                <a:r>
                  <a:rPr lang="zh-CN" altLang="en-US" sz="14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）很小，避免了溢出。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349DCC1-C407-17E3-F694-67DCF1AB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009" y="4997371"/>
                <a:ext cx="6254626" cy="2001382"/>
              </a:xfrm>
              <a:prstGeom prst="rect">
                <a:avLst/>
              </a:prstGeom>
              <a:blipFill>
                <a:blip r:embed="rId9"/>
                <a:stretch>
                  <a:fillRect l="-292" r="-3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736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 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中的残差连接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6DEE4E-2973-2B81-8D90-A70750A48808}"/>
              </a:ext>
            </a:extLst>
          </p:cNvPr>
          <p:cNvSpPr txBox="1"/>
          <p:nvPr/>
        </p:nvSpPr>
        <p:spPr>
          <a:xfrm>
            <a:off x="184731" y="1025496"/>
            <a:ext cx="11947946" cy="355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残差连接机制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有效解决了深层神经网络训练时梯度消失的问题，大幅提升了模型训练稳定性和信息传递效率。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</a:pPr>
            <a:endParaRPr lang="en-US" altLang="zh-CN" sz="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在初始化阶段，先构建 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time_mlp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模块，它借助线性层与 ReLU 激活，将输入的时间嵌入向量映射到与输出通道数 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out_channels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一致，实现时间信息的初步处理与维度适配。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接着设计 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block1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和 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block2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两个卷积块，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block1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用 3×3 卷积（填充 1 保证尺寸不变 ）、批归一化与 ReLU 激活，完成输入通道到输出通道的转换及初步特征提取；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block2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</a:t>
            </a:r>
            <a:r>
              <a:rPr lang="zh-CN" altLang="en-US" dirty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同理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对于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残差连接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，通过 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self.skip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 实现，若输入输出通道数不同，用 1×1 卷积调整通道数，若相同则直接恒等映射，确保能构建残差路径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。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48C7F1-A564-2EDC-8DCE-906F4B2E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937" y="4183552"/>
            <a:ext cx="4989602" cy="233998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D7356A0-7E20-DC7B-172B-1D22A02E5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5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076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 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中的图像生成流程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D02F35-E14F-163A-D41D-AFC4871CC556}"/>
                  </a:ext>
                </a:extLst>
              </p:cNvPr>
              <p:cNvSpPr txBox="1"/>
              <p:nvPr/>
            </p:nvSpPr>
            <p:spPr>
              <a:xfrm>
                <a:off x="588713" y="1239533"/>
                <a:ext cx="10740028" cy="4613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lnSpc>
                    <a:spcPct val="150000"/>
                  </a:lnSpc>
                </a:pP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具体的</a:t>
                </a: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图像生成流程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分为以下四个步骤：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输入数据准备</a:t>
                </a:r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把当前时间步的带噪图像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和对应的时间步编码输入模型。时间步编码提供时间信息，帮助模型了解当前处理阶段；带噪图像是生成器要处理的对象，一开始充满随机噪声，和目标清晰图像差别很大。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噪声残差预测</a:t>
                </a:r>
                <a:r>
                  <a:rPr lang="zh-CN" altLang="zh-CN" sz="1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生成器根据输入的带噪图像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和时间步编码，通过内部神经网络结构预测噪声残差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。这个预测过程结合了图像的视觉特征和时间步包含的生成阶段信息，能精准确定图像中需要去除噪声的区域和强度。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图像更新：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依据残差连接原理，用公式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更新带噪图像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。这相当于从带噪图像中减去预测的噪声残差，得到去噪后的图像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，其噪声明显减少，图像质量有所提升。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sz="1800" b="1" kern="1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循环迭代生成：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将更新后的图像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作为下一时间步的输入，重复残差预测和图像更新步骤。随着时间步不断减小，模型持续去噪、细化图像细节，经过多次迭代，最终生成接近真实图像的清晰输出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D02F35-E14F-163A-D41D-AFC4871C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13" y="1239533"/>
                <a:ext cx="10740028" cy="4613699"/>
              </a:xfrm>
              <a:prstGeom prst="rect">
                <a:avLst/>
              </a:prstGeom>
              <a:blipFill>
                <a:blip r:embed="rId6"/>
                <a:stretch>
                  <a:fillRect l="-398" r="-2669" b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71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 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中的图像生成流程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08C4D-3E71-49E2-FBC4-5E12FFFF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25" y="1330901"/>
            <a:ext cx="4793880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但是在模块三中，尽管理论上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时间编码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残差预测机制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依赖时间步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的迭代过程，逐步实现从含噪图像到清晰图像的生成，但考虑到运行时间等因素，实际的网络设计与运行并未严格遵循这一迭代逻辑。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实验构建的模型仅设计了一个由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个残差块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堆叠而成的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残差网络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，将时间步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作为嵌入向量输入后，直接进行一次前向传播，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一步到位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生成最终图像，跳过了原始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中基于时间步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的多阶段去噪迭代步骤。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121" name="图片 10">
            <a:extLst>
              <a:ext uri="{FF2B5EF4-FFF2-40B4-BE49-F238E27FC236}">
                <a16:creationId xmlns:a16="http://schemas.microsoft.com/office/drawing/2014/main" id="{E61B057F-4579-153E-A345-FD3571011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35" y="1827792"/>
            <a:ext cx="6555722" cy="369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8609C5-09C0-5F87-F753-A366F0C06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8" y="24551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408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DDGAN 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中的图像生成流程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609C5-09C0-5F87-F753-A366F0C06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8" y="24551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233FAE-FFB1-B954-D211-37AE9A2EC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830" y="1801889"/>
            <a:ext cx="6307373" cy="37198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470CF03-81D1-5B6E-3410-8C2900A5C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899" y="1856820"/>
            <a:ext cx="4928932" cy="36100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2EFDEA8-FED4-F629-0637-9E6B5C7E083B}"/>
              </a:ext>
            </a:extLst>
          </p:cNvPr>
          <p:cNvSpPr txBox="1"/>
          <p:nvPr/>
        </p:nvSpPr>
        <p:spPr>
          <a:xfrm>
            <a:off x="902125" y="5719603"/>
            <a:ext cx="3676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简化版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网络架构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实现代码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8CD6BF-1704-C099-57D1-C0931734AF08}"/>
              </a:ext>
            </a:extLst>
          </p:cNvPr>
          <p:cNvSpPr txBox="1"/>
          <p:nvPr/>
        </p:nvSpPr>
        <p:spPr>
          <a:xfrm>
            <a:off x="6896866" y="5729933"/>
            <a:ext cx="444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简化版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前向传播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实现代码</a:t>
            </a:r>
          </a:p>
        </p:txBody>
      </p:sp>
    </p:spTree>
    <p:extLst>
      <p:ext uri="{BB962C8B-B14F-4D97-AF65-F5344CB8AC3E}">
        <p14:creationId xmlns:p14="http://schemas.microsoft.com/office/powerpoint/2010/main" val="346788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-1773" y="-43773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40" y="1055448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54651" y="1661160"/>
            <a:ext cx="1283335" cy="1283335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1958" y="1667828"/>
            <a:ext cx="1188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BB4737-DA37-0FBC-C35A-11B4D252248C}"/>
              </a:ext>
            </a:extLst>
          </p:cNvPr>
          <p:cNvSpPr txBox="1"/>
          <p:nvPr/>
        </p:nvSpPr>
        <p:spPr>
          <a:xfrm>
            <a:off x="1277567" y="3428996"/>
            <a:ext cx="963154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6000" b="1" noProof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实验结果与分析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模块一：</a:t>
            </a:r>
            <a:r>
              <a:rPr lang="en-US" altLang="zh-CN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MNIST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数据集实验结果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146" name="图片 28">
            <a:extLst>
              <a:ext uri="{FF2B5EF4-FFF2-40B4-BE49-F238E27FC236}">
                <a16:creationId xmlns:a16="http://schemas.microsoft.com/office/drawing/2014/main" id="{8D3D0524-D1A0-9EF7-C3DC-785C0A0E9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965" y="3068187"/>
            <a:ext cx="2596307" cy="259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图片 11">
            <a:extLst>
              <a:ext uri="{FF2B5EF4-FFF2-40B4-BE49-F238E27FC236}">
                <a16:creationId xmlns:a16="http://schemas.microsoft.com/office/drawing/2014/main" id="{9D55B7EE-77D6-F398-DDE6-81A6B619D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797" y="3068187"/>
            <a:ext cx="2596307" cy="259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3DF8604-2C02-0304-D3D5-56AE3B50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57" y="1262623"/>
            <a:ext cx="10514286" cy="210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25392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MNIST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手写数字数据集上，模型训练表现出相对稳定的收敛趋势。生成图像能够清晰还原数字轮廓与结构，如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数字“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3”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的曲线弧度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8”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的闭合形态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等细节均能有效呈现。生成样本的视觉效果与真实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MNIST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图像相似度较高，模型基本实现了对简单灰度图像分布的学习，验证了基础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架构在低复杂度数据集上的可行性。  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2751F-7EBF-B13D-BF31-72BCD3AE8ECF}"/>
              </a:ext>
            </a:extLst>
          </p:cNvPr>
          <p:cNvSpPr txBox="1"/>
          <p:nvPr/>
        </p:nvSpPr>
        <p:spPr>
          <a:xfrm>
            <a:off x="3146702" y="5894665"/>
            <a:ext cx="6097022" cy="380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MNIST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数据集上的生成结果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(Epoch 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Epoch 25)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879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模块二：</a:t>
            </a:r>
            <a:r>
              <a:rPr lang="en-US" altLang="zh-CN" b="1" dirty="0" err="1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CelebA</a:t>
            </a: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人脸数据集实验问题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172" name="图片 23">
            <a:extLst>
              <a:ext uri="{FF2B5EF4-FFF2-40B4-BE49-F238E27FC236}">
                <a16:creationId xmlns:a16="http://schemas.microsoft.com/office/drawing/2014/main" id="{941F79FA-054C-66B3-19F7-3455C18D9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681" y="4438859"/>
            <a:ext cx="2152790" cy="215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7948250E-6094-154F-9779-04835E73A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4" y="1235431"/>
            <a:ext cx="11071747" cy="33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25392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转向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彩色人脸数据集时，实验结果显著恶化。生成图像的人脸细节信息几乎不可见，输出多为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模糊的色块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无意义的纹理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，无法辨识五官、轮廓等关键特征。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同时，从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损失函数曲线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可以看到，判别器在早期因学习过快，陷入 “过拟合”（仅记住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简单特征就能区分真假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），后续不再学习，导致生成器的损失失去参考价值；而生成器看似损失低，实际是因为判别器无法提供有效反馈，生成的样本质量极差（如全噪声），但判别器无法识别，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最终陷入 “假训练” 状态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这表明模型在处理高分辨率、复杂纹理的彩色图像时，未能有效学习数据分布，猜测是由于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网络结构设计不足或训练超参数配置不合理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，进而无法捕捉人脸数据的关键特征。  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A7AE4C7-48FA-44AD-2B1F-E5B2BE10DAA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932" y="4438859"/>
            <a:ext cx="4306311" cy="2152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084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模块三：改进后模型的效果与局限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194" name="图片 24">
            <a:extLst>
              <a:ext uri="{FF2B5EF4-FFF2-40B4-BE49-F238E27FC236}">
                <a16:creationId xmlns:a16="http://schemas.microsoft.com/office/drawing/2014/main" id="{CD0058CD-8CAF-16A4-B003-BF6B7AF54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50" y="3783748"/>
            <a:ext cx="2152790" cy="215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图片 26">
            <a:extLst>
              <a:ext uri="{FF2B5EF4-FFF2-40B4-BE49-F238E27FC236}">
                <a16:creationId xmlns:a16="http://schemas.microsoft.com/office/drawing/2014/main" id="{1B121EFC-D740-08DE-E660-4845DF8AF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367" y="3775211"/>
            <a:ext cx="2152790" cy="215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DE33E3-519F-0DB2-05DC-A673E082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14" y="1099160"/>
            <a:ext cx="10875040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通过调整网络结构（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增加残差块、添加时间编码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），改进后的模型在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数据集上的生成效果有所提升：部分图像的人脸轮廓开始显现，眼睛、嘴巴等区域的结构可初步分辨，相比原始模型有明显进步。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370C7D7-85F4-BC2C-1DDD-455258E1B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54" y="1139755"/>
            <a:ext cx="11047232" cy="253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kumimoji="0" lang="zh-CN" altLang="zh-CN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然而，生成结果仍存在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显著缺陷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：在输出的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64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张图像中，超过半数仍为模糊色块，仅少数样本呈现不完整的人脸特征。分析认为，尽管改进策略缓解了部分训练不稳定问题，但模型对复杂人脸细节的建模能力依然不足，可能受限于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对抗损失函数的超参数设计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缺陷，或高维图像生成时的模式崩溃问题，导致生成样本未能全面覆盖真实人脸的多样性与细节特征。</a:t>
            </a:r>
          </a:p>
        </p:txBody>
      </p:sp>
      <p:pic>
        <p:nvPicPr>
          <p:cNvPr id="10" name="图片 23">
            <a:extLst>
              <a:ext uri="{FF2B5EF4-FFF2-40B4-BE49-F238E27FC236}">
                <a16:creationId xmlns:a16="http://schemas.microsoft.com/office/drawing/2014/main" id="{0B56DA61-A163-5C8B-8E25-80AB25C68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450" y="3783748"/>
            <a:ext cx="2152790" cy="215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2FB045D-B361-3C85-6473-388F0C69D7DE}"/>
              </a:ext>
            </a:extLst>
          </p:cNvPr>
          <p:cNvSpPr txBox="1"/>
          <p:nvPr/>
        </p:nvSpPr>
        <p:spPr>
          <a:xfrm>
            <a:off x="588713" y="6184623"/>
            <a:ext cx="104054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从左到右依次为：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模块二在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celbA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数据集上的生成结果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Epoch 25) 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，模块三在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celbA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数据集上的生成结果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(Epoch 1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Epoch 27)</a:t>
            </a:r>
          </a:p>
        </p:txBody>
      </p:sp>
    </p:spTree>
    <p:extLst>
      <p:ext uri="{BB962C8B-B14F-4D97-AF65-F5344CB8AC3E}">
        <p14:creationId xmlns:p14="http://schemas.microsoft.com/office/powerpoint/2010/main" val="2965194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-1773" y="-43773"/>
            <a:ext cx="12192000" cy="6901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-3546" y="1636676"/>
            <a:ext cx="12195546" cy="3584643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279340" y="1055448"/>
            <a:ext cx="9629775" cy="47470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54651" y="1661160"/>
            <a:ext cx="1283335" cy="1283335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1958" y="1667828"/>
            <a:ext cx="1188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BF689F-7F46-CB19-092C-C3E2CC21200B}"/>
              </a:ext>
            </a:extLst>
          </p:cNvPr>
          <p:cNvSpPr txBox="1"/>
          <p:nvPr/>
        </p:nvSpPr>
        <p:spPr>
          <a:xfrm>
            <a:off x="1277567" y="3428996"/>
            <a:ext cx="963154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6000" b="1" noProof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总结与展望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19" name="标题 1"/>
          <p:cNvSpPr txBox="1"/>
          <p:nvPr/>
        </p:nvSpPr>
        <p:spPr>
          <a:xfrm>
            <a:off x="777875" y="173355"/>
            <a:ext cx="10466705" cy="74358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defTabSz="480060" fontAlgn="auto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469A"/>
                </a:solidFill>
                <a:cs typeface="Times New Roman" panose="02020603050405020304" pitchFamily="18" charset="0"/>
                <a:sym typeface="+mn-ea"/>
              </a:rPr>
              <a:t>实验总结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455E61-3B8C-EED2-DC63-CCDD700A8CD2}"/>
              </a:ext>
            </a:extLst>
          </p:cNvPr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BB717B-749A-A635-4FC6-15CB3F60949A}"/>
              </a:ext>
            </a:extLst>
          </p:cNvPr>
          <p:cNvSpPr txBox="1"/>
          <p:nvPr/>
        </p:nvSpPr>
        <p:spPr>
          <a:xfrm>
            <a:off x="156297" y="1283075"/>
            <a:ext cx="11837502" cy="502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MNIST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数据集实验中，基础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CNN-GAN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展现出在低复杂度任务上的有效性，能够稳定生成清晰、可辨的手写数字图像。这验证了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 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对抗训练框架的基础逻辑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也初步展示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了生成器与判别器“博弈”的训练过程，为后续复杂数据集实验奠定了技术基础。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彩色人脸数据集实验则暴露了传统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的固有缺陷。面对高分辨率、复杂纹理的彩色图像，模型出现了生成图像模糊等问题。这让我意识到，单纯加深网络结构无法解决复杂数据分布的学习难题，也体会到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训练对网络设计、超参数配置的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高敏感性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——判别器与生成器的平衡一旦打破，训练过程将迅速陷入不稳定。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改进实验是本次研究的核心探索。通过引入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扩散模型的时间步编码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b="1" kern="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网络中的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残差连接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，模型在人脸细节生成上取得了一定突破（如轮廓、五官初步显现），但仍存在生成噪声多、细节覆盖不足的问题。</a:t>
            </a:r>
            <a:r>
              <a:rPr lang="zh-CN" altLang="en-US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这也体现出了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融合不同模型的优势（如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的对抗训练、扩散模型的渐进去噪）是提升生成质量的有效方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从整体实验流程看，尽管最终未完全实现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DDGAN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的完整训练，但对“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生成模型如何学习数据分布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这个问题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有了更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的理解——从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简单噪声映射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扩散去噪机制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，本质是模型对数据特征的“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粗粒度捕捉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”到“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细粒度还原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”的</a:t>
            </a:r>
            <a:r>
              <a:rPr lang="zh-CN" altLang="en-US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进步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80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71597" y="566258"/>
            <a:ext cx="184457" cy="350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773" y="231352"/>
            <a:ext cx="166027" cy="291653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78" y="916614"/>
            <a:ext cx="11384121" cy="87084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7418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57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6591649"/>
            <a:ext cx="12192000" cy="323850"/>
            <a:chOff x="0" y="10290"/>
            <a:chExt cx="19200" cy="5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90"/>
              <a:ext cx="19200" cy="5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0290"/>
              <a:ext cx="3647" cy="51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5773" y="6591649"/>
            <a:ext cx="1571465" cy="323850"/>
            <a:chOff x="2841596" y="627842"/>
            <a:chExt cx="5791544" cy="125401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084" y="756920"/>
              <a:ext cx="5191056" cy="105532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2841596" y="627842"/>
              <a:ext cx="1674253" cy="1254012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9053" y="742301"/>
              <a:ext cx="987554" cy="987554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3D20878-8176-0216-1714-DB46C886FB6F}"/>
              </a:ext>
            </a:extLst>
          </p:cNvPr>
          <p:cNvSpPr txBox="1"/>
          <p:nvPr/>
        </p:nvSpPr>
        <p:spPr>
          <a:xfrm>
            <a:off x="3047238" y="3271766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r>
              <a:rPr lang="zh-CN" altLang="en-US" sz="6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382286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2976377952757,&quot;left&quot;:497.1429133858268,&quot;top&quot;:107.56795275590551,&quot;width&quot;:404.6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3367</Words>
  <Application>Microsoft Macintosh PowerPoint</Application>
  <PresentationFormat>宽屏</PresentationFormat>
  <Paragraphs>142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shilan zhang</dc:creator>
  <cp:lastModifiedBy>Dawson Rose</cp:lastModifiedBy>
  <cp:revision>411</cp:revision>
  <dcterms:created xsi:type="dcterms:W3CDTF">2025-01-04T11:49:00Z</dcterms:created>
  <dcterms:modified xsi:type="dcterms:W3CDTF">2025-12-30T04:40:23Z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0E622E0BD6EC491EA9781A51B5975799_12</vt:lpwstr>
  </property>
  <property fmtid="{D5CDD505-2E9C-101B-9397-08002B2CF9AE}" pid="3" name="KSOProductBuildVer">
    <vt:lpwstr>2052-12.1.0.20784</vt:lpwstr>
  </property>
</Properties>
</file>